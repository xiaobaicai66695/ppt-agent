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面临的挑战与限制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算力消耗巨大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训练成本高昂，推理延迟</a:t>
            </a:r>
          </a:p>
          <a:p>
            <a:pPr>
              <a:defRPr sz="800"/>
            </a:pPr>
          </a:p>
          <a:p>
            <a:pPr>
              <a:defRPr sz="1600" b="1">
                <a:solidFill>
                  <a:srgbClr val="FF9696"/>
                </a:solidFill>
              </a:defRPr>
            </a:pPr>
            <a:r>
              <a:t>• 存在幻觉问题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生成错误但看似合理内容</a:t>
            </a:r>
          </a:p>
          <a:p>
            <a:pPr>
              <a:defRPr sz="800"/>
            </a:pPr>
          </a:p>
          <a:p>
            <a:pPr>
              <a:defRPr sz="1600" b="1">
                <a:solidFill>
                  <a:srgbClr val="FF9696"/>
                </a:solidFill>
              </a:defRPr>
            </a:pPr>
            <a:r>
              <a:t>• 可解释性差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黑箱模型，决策不透明</a:t>
            </a:r>
          </a:p>
          <a:p>
            <a:pPr>
              <a:defRPr sz="800"/>
            </a:pPr>
          </a:p>
          <a:p>
            <a:pPr>
              <a:defRPr sz="1600" b="1">
                <a:solidFill>
                  <a:srgbClr val="FF9696"/>
                </a:solidFill>
              </a:defRPr>
            </a:pPr>
            <a:r>
              <a:t>• 数据偏见与安全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训练数据偏见，安全漏洞</a:t>
            </a:r>
          </a:p>
          <a:p>
            <a:pPr>
              <a:defRPr sz="800"/>
            </a:pPr>
          </a:p>
          <a:p>
            <a:pPr>
              <a:defRPr sz="1600" b="1">
                <a:solidFill>
                  <a:srgbClr val="FF9696"/>
                </a:solidFill>
              </a:defRPr>
            </a:pPr>
            <a:r>
              <a:t>• 持续学习困难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灾难性遗忘，更新代价高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就业结构影响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岗位替代，技能升级</a:t>
            </a:r>
          </a:p>
          <a:p>
            <a:pPr>
              <a:defRPr sz="800"/>
            </a:pPr>
          </a:p>
          <a:p>
            <a:pPr>
              <a:defRPr sz="1600" b="1">
                <a:solidFill>
                  <a:srgbClr val="FF9696"/>
                </a:solidFill>
              </a:defRPr>
            </a:pPr>
            <a:r>
              <a:t>• 信息真实性问题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虚假信息生成与传播</a:t>
            </a:r>
          </a:p>
          <a:p>
            <a:pPr>
              <a:defRPr sz="800"/>
            </a:pPr>
          </a:p>
          <a:p>
            <a:pPr>
              <a:defRPr sz="1600" b="1">
                <a:solidFill>
                  <a:srgbClr val="FF9696"/>
                </a:solidFill>
              </a:defRPr>
            </a:pPr>
            <a:r>
              <a:t>• 隐私泄露风险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数据收集与使用边界</a:t>
            </a:r>
          </a:p>
          <a:p>
            <a:pPr>
              <a:defRPr sz="800"/>
            </a:pPr>
          </a:p>
          <a:p>
            <a:pPr>
              <a:defRPr sz="1600" b="1">
                <a:solidFill>
                  <a:srgbClr val="FF9696"/>
                </a:solidFill>
              </a:defRPr>
            </a:pPr>
            <a:r>
              <a:t>• 责任归属难题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错误决策追责困难</a:t>
            </a:r>
          </a:p>
          <a:p>
            <a:pPr>
              <a:defRPr sz="800"/>
            </a:pPr>
          </a:p>
          <a:p>
            <a:pPr>
              <a:defRPr sz="1600" b="1">
                <a:solidFill>
                  <a:srgbClr val="FF9696"/>
                </a:solidFill>
              </a:defRPr>
            </a:pPr>
            <a:r>
              <a:t>• 能源消耗问题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环境影响，可持续性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371600"/>
            <a:ext cx="45720" cy="3657600"/>
          </a:xfrm>
          <a:prstGeom prst="rect">
            <a:avLst/>
          </a:prstGeom>
          <a:solidFill>
            <a:srgbClr val="3264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entagon 7"/>
          <p:cNvSpPr/>
          <p:nvPr/>
        </p:nvSpPr>
        <p:spPr>
          <a:xfrm>
            <a:off x="4114800" y="914400"/>
            <a:ext cx="457200" cy="457200"/>
          </a:xfrm>
          <a:prstGeom prst="homePlate">
            <a:avLst/>
          </a:prstGeom>
          <a:solidFill>
            <a:srgbClr val="FF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