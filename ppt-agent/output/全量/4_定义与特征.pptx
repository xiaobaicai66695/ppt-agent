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AI大模型定义与特征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FF"/>
                </a:solidFill>
              </a:defRPr>
            </a:pPr>
            <a:r>
              <a:t>定义</a:t>
            </a:r>
          </a:p>
          <a:p>
            <a:br/>
            <a:pPr>
              <a:lnSpc>
                <a:spcPct val="130000"/>
              </a:lnSpc>
              <a:defRPr sz="1800">
                <a:solidFill>
                  <a:srgbClr val="DCDCDC"/>
                </a:solidFill>
              </a:defRPr>
            </a:pPr>
            <a:r>
              <a:t>AI大模型是基于海量数据训练、参数规模巨大、具备通用任务处理能力的深度学习模型。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FF"/>
                </a:solidFill>
              </a:defRPr>
            </a:pPr>
            <a:r>
              <a:t>核心特征</a:t>
            </a:r>
          </a:p>
          <a:p>
            <a:pPr>
              <a:spcBef>
                <a:spcPts val="500"/>
              </a:spcBef>
              <a:defRPr sz="1800">
                <a:solidFill>
                  <a:srgbClr val="DCDCDC"/>
                </a:solidFill>
              </a:defRPr>
            </a:pPr>
            <a:r>
              <a:t>• 巨量参数（十亿至万亿级）</a:t>
            </a:r>
          </a:p>
          <a:p>
            <a:pPr>
              <a:spcBef>
                <a:spcPts val="500"/>
              </a:spcBef>
              <a:defRPr sz="1800">
                <a:solidFill>
                  <a:srgbClr val="DCDCDC"/>
                </a:solidFill>
              </a:defRPr>
            </a:pPr>
            <a:r>
              <a:t>• 海量训练数据</a:t>
            </a:r>
          </a:p>
          <a:p>
            <a:pPr>
              <a:spcBef>
                <a:spcPts val="500"/>
              </a:spcBef>
              <a:defRPr sz="1800">
                <a:solidFill>
                  <a:srgbClr val="DCDCDC"/>
                </a:solidFill>
              </a:defRPr>
            </a:pPr>
            <a:r>
              <a:t>• 涌现能力</a:t>
            </a:r>
          </a:p>
          <a:p>
            <a:pPr>
              <a:spcBef>
                <a:spcPts val="500"/>
              </a:spcBef>
              <a:defRPr sz="1800">
                <a:solidFill>
                  <a:srgbClr val="DCDCDC"/>
                </a:solidFill>
              </a:defRPr>
            </a:pPr>
            <a:r>
              <a:t>• 通用任务处理</a:t>
            </a:r>
          </a:p>
          <a:p>
            <a:pPr>
              <a:spcBef>
                <a:spcPts val="500"/>
              </a:spcBef>
              <a:defRPr sz="1800">
                <a:solidFill>
                  <a:srgbClr val="DCDCDC"/>
                </a:solidFill>
              </a:defRPr>
            </a:pPr>
            <a:r>
              <a:t>• 上下文学习</a:t>
            </a:r>
          </a:p>
          <a:p>
            <a:pPr>
              <a:spcBef>
                <a:spcPts val="500"/>
              </a:spcBef>
              <a:defRPr sz="1800">
                <a:solidFill>
                  <a:srgbClr val="DCDCDC"/>
                </a:solidFill>
              </a:defRPr>
            </a:pPr>
            <a:r>
              <a:t>• 多任务统一架构</a:t>
            </a:r>
          </a:p>
          <a:p>
            <a:pPr>
              <a:spcBef>
                <a:spcPts val="500"/>
              </a:spcBef>
              <a:defRPr sz="1800">
                <a:solidFill>
                  <a:srgbClr val="DCDCDC"/>
                </a:solidFill>
              </a:defRPr>
            </a:pPr>
            <a:r>
              <a:t>• 零样本/少样本学习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371600"/>
            <a:ext cx="45720" cy="3657600"/>
          </a:xfrm>
          <a:prstGeom prst="rect">
            <a:avLst/>
          </a:prstGeom>
          <a:solidFill>
            <a:srgbClr val="3264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