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64B4FF"/>
                </a:solidFill>
              </a:defRPr>
            </a:pPr>
            <a:r>
              <a:t>未来发展趋势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模型规模化与效率优化</a:t>
            </a:r>
          </a:p>
          <a:p>
            <a:pPr>
              <a:defRPr sz="1600">
                <a:solidFill>
                  <a:srgbClr val="B4DCF0"/>
                </a:solidFill>
              </a:defRPr>
            </a:pPr>
            <a:r>
              <a:t>   • 参数规模继续扩大</a:t>
            </a:r>
          </a:p>
          <a:p>
            <a:pPr>
              <a:defRPr sz="1600">
                <a:solidFill>
                  <a:srgbClr val="B4DCF0"/>
                </a:solidFill>
              </a:defRPr>
            </a:pPr>
            <a:r>
              <a:t>   • 训练推理效率提升</a:t>
            </a:r>
          </a:p>
          <a:p>
            <a:pPr>
              <a:defRPr sz="1600">
                <a:solidFill>
                  <a:srgbClr val="B4DCF0"/>
                </a:solidFill>
              </a:defRPr>
            </a:pPr>
            <a:r>
              <a:t>   • 小型化与边缘部署</a:t>
            </a:r>
          </a:p>
          <a:p>
            <a:pPr>
              <a:defRPr sz="800"/>
            </a:pPr>
          </a:p>
          <a:p>
            <a:pPr>
              <a:defRPr sz="2000" b="1">
                <a:solidFill>
                  <a:srgbClr val="00C8FF"/>
                </a:solidFill>
              </a:defRPr>
            </a:pPr>
            <a:r>
              <a:t>2. 多模态深度融合</a:t>
            </a:r>
          </a:p>
          <a:p>
            <a:pPr>
              <a:defRPr sz="1600">
                <a:solidFill>
                  <a:srgbClr val="B4DCF0"/>
                </a:solidFill>
              </a:defRPr>
            </a:pPr>
            <a:r>
              <a:t>   • 文本、图像、音频统一</a:t>
            </a:r>
          </a:p>
          <a:p>
            <a:pPr>
              <a:defRPr sz="1600">
                <a:solidFill>
                  <a:srgbClr val="B4DCF0"/>
                </a:solidFill>
              </a:defRPr>
            </a:pPr>
            <a:r>
              <a:t>   • 3D与视频理解</a:t>
            </a:r>
          </a:p>
          <a:p>
            <a:pPr>
              <a:defRPr sz="1600">
                <a:solidFill>
                  <a:srgbClr val="B4DCF0"/>
                </a:solidFill>
              </a:defRPr>
            </a:pPr>
            <a:r>
              <a:t>   • 跨模态生成与控制</a:t>
            </a:r>
          </a:p>
          <a:p>
            <a:pPr>
              <a:defRPr sz="800"/>
            </a:pPr>
          </a:p>
          <a:p>
            <a:pPr>
              <a:defRPr sz="2000" b="1">
                <a:solidFill>
                  <a:srgbClr val="00C8FF"/>
                </a:solidFill>
              </a:defRPr>
            </a:pPr>
            <a:r>
              <a:t>3. 垂直领域专用化</a:t>
            </a:r>
          </a:p>
          <a:p>
            <a:pPr>
              <a:defRPr sz="1600">
                <a:solidFill>
                  <a:srgbClr val="B4DCF0"/>
                </a:solidFill>
              </a:defRPr>
            </a:pPr>
            <a:r>
              <a:t>   • 行业定制模型</a:t>
            </a:r>
          </a:p>
          <a:p>
            <a:pPr>
              <a:defRPr sz="1600">
                <a:solidFill>
                  <a:srgbClr val="B4DCF0"/>
                </a:solidFill>
              </a:defRPr>
            </a:pPr>
            <a:r>
              <a:t>   • 领域知识增强</a:t>
            </a:r>
          </a:p>
          <a:p>
            <a:pPr>
              <a:defRPr sz="1600">
                <a:solidFill>
                  <a:srgbClr val="B4DCF0"/>
                </a:solidFill>
              </a:defRPr>
            </a:pPr>
            <a:r>
              <a:t>   • 私有化部署方案</a:t>
            </a:r>
          </a:p>
          <a:p>
            <a:pPr>
              <a:defRPr sz="800"/>
            </a:pPr>
          </a:p>
          <a:p>
            <a:pPr>
              <a:defRPr sz="2000" b="1">
                <a:solidFill>
                  <a:srgbClr val="00C8FF"/>
                </a:solidFill>
              </a:defRPr>
            </a:pPr>
            <a:r>
              <a:t>4. 具身智能与机器人</a:t>
            </a:r>
          </a:p>
          <a:p>
            <a:pPr>
              <a:defRPr sz="1600">
                <a:solidFill>
                  <a:srgbClr val="B4DCF0"/>
                </a:solidFill>
              </a:defRPr>
            </a:pPr>
            <a:r>
              <a:t>   • 物理世界交互</a:t>
            </a:r>
          </a:p>
          <a:p>
            <a:pPr>
              <a:defRPr sz="1600">
                <a:solidFill>
                  <a:srgbClr val="B4DCF0"/>
                </a:solidFill>
              </a:defRPr>
            </a:pPr>
            <a:r>
              <a:t>   • 自主决策与规划</a:t>
            </a:r>
          </a:p>
          <a:p>
            <a:pPr>
              <a:defRPr sz="1600">
                <a:solidFill>
                  <a:srgbClr val="B4DCF0"/>
                </a:solidFill>
              </a:defRPr>
            </a:pPr>
            <a:r>
              <a:t>   • 人机协作新范式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5029200"/>
            <a:ext cx="137160" cy="137160"/>
          </a:xfrm>
          <a:prstGeom prst="ellipse">
            <a:avLst/>
          </a:prstGeom>
          <a:solidFill>
            <a:srgbClr val="64C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63040" y="5029200"/>
            <a:ext cx="137160" cy="137160"/>
          </a:xfrm>
          <a:prstGeom prst="ellipse">
            <a:avLst/>
          </a:prstGeom>
          <a:solidFill>
            <a:srgbClr val="64C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68880" y="5029200"/>
            <a:ext cx="137160" cy="137160"/>
          </a:xfrm>
          <a:prstGeom prst="ellipse">
            <a:avLst/>
          </a:prstGeom>
          <a:solidFill>
            <a:srgbClr val="64C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0" y="5029200"/>
            <a:ext cx="137160" cy="137160"/>
          </a:xfrm>
          <a:prstGeom prst="ellipse">
            <a:avLst/>
          </a:prstGeom>
          <a:solidFill>
            <a:srgbClr val="64C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60" y="5029200"/>
            <a:ext cx="137160" cy="137160"/>
          </a:xfrm>
          <a:prstGeom prst="ellipse">
            <a:avLst/>
          </a:prstGeom>
          <a:solidFill>
            <a:srgbClr val="64C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0" y="5029200"/>
            <a:ext cx="137160" cy="137160"/>
          </a:xfrm>
          <a:prstGeom prst="ellipse">
            <a:avLst/>
          </a:prstGeom>
          <a:solidFill>
            <a:srgbClr val="64C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0" y="5029200"/>
            <a:ext cx="137160" cy="137160"/>
          </a:xfrm>
          <a:prstGeom prst="ellipse">
            <a:avLst/>
          </a:prstGeom>
          <a:solidFill>
            <a:srgbClr val="64C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0" y="5029200"/>
            <a:ext cx="137160" cy="137160"/>
          </a:xfrm>
          <a:prstGeom prst="ellipse">
            <a:avLst/>
          </a:prstGeom>
          <a:solidFill>
            <a:srgbClr val="64C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