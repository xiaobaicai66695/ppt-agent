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914400"/>
            <a:ext cx="18288" cy="18288"/>
          </a:xfrm>
          <a:prstGeom prst="ellipse">
            <a:avLst/>
          </a:prstGeom>
          <a:solidFill>
            <a:srgbClr val="00B4D8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76400" y="914400"/>
            <a:ext cx="36576" cy="36576"/>
          </a:xfrm>
          <a:prstGeom prst="ellipse">
            <a:avLst/>
          </a:prstGeom>
          <a:solidFill>
            <a:srgbClr val="00B4D8">
              <a:lumMod val="36000"/>
              <a:lumOff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38400" y="914400"/>
            <a:ext cx="54864" cy="54864"/>
          </a:xfrm>
          <a:prstGeom prst="ellipse">
            <a:avLst/>
          </a:prstGeom>
          <a:solidFill>
            <a:srgbClr val="00B4D8">
              <a:lumMod val="32000"/>
              <a:lumOff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0" y="914400"/>
            <a:ext cx="18288" cy="18288"/>
          </a:xfrm>
          <a:prstGeom prst="ellipse">
            <a:avLst/>
          </a:prstGeom>
          <a:solidFill>
            <a:srgbClr val="00B4D8">
              <a:lumMod val="28000"/>
              <a:lumOff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962400" y="914400"/>
            <a:ext cx="36576" cy="36576"/>
          </a:xfrm>
          <a:prstGeom prst="ellipse">
            <a:avLst/>
          </a:prstGeom>
          <a:solidFill>
            <a:srgbClr val="00B4D8">
              <a:lumMod val="24000"/>
              <a:lumOff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24400" y="914400"/>
            <a:ext cx="54864" cy="54864"/>
          </a:xfrm>
          <a:prstGeom prst="ellipse">
            <a:avLst/>
          </a:prstGeom>
          <a:solidFill>
            <a:srgbClr val="00B4D8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0" y="914400"/>
            <a:ext cx="18288" cy="18288"/>
          </a:xfrm>
          <a:prstGeom prst="ellipse">
            <a:avLst/>
          </a:prstGeom>
          <a:solidFill>
            <a:srgbClr val="00B4D8">
              <a:lumMod val="36000"/>
              <a:lumOff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48400" y="914400"/>
            <a:ext cx="36576" cy="36576"/>
          </a:xfrm>
          <a:prstGeom prst="ellipse">
            <a:avLst/>
          </a:prstGeom>
          <a:solidFill>
            <a:srgbClr val="00B4D8">
              <a:lumMod val="32000"/>
              <a:lumOff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10400" y="914400"/>
            <a:ext cx="54864" cy="54864"/>
          </a:xfrm>
          <a:prstGeom prst="ellipse">
            <a:avLst/>
          </a:prstGeom>
          <a:solidFill>
            <a:srgbClr val="00B4D8">
              <a:lumMod val="28000"/>
              <a:lumOff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914400"/>
            <a:ext cx="18288" cy="18288"/>
          </a:xfrm>
          <a:prstGeom prst="ellipse">
            <a:avLst/>
          </a:prstGeom>
          <a:solidFill>
            <a:srgbClr val="00B4D8">
              <a:lumMod val="24000"/>
              <a:lumOff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34400" y="914400"/>
            <a:ext cx="36576" cy="36576"/>
          </a:xfrm>
          <a:prstGeom prst="ellipse">
            <a:avLst/>
          </a:prstGeom>
          <a:solidFill>
            <a:srgbClr val="00B4D8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296400" y="914400"/>
            <a:ext cx="54864" cy="54864"/>
          </a:xfrm>
          <a:prstGeom prst="ellipse">
            <a:avLst/>
          </a:prstGeom>
          <a:solidFill>
            <a:srgbClr val="00B4D8">
              <a:lumMod val="36000"/>
              <a:lumOff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1676400"/>
            <a:ext cx="36576" cy="36576"/>
          </a:xfrm>
          <a:prstGeom prst="ellipse">
            <a:avLst/>
          </a:prstGeom>
          <a:solidFill>
            <a:srgbClr val="00B4D8">
              <a:lumMod val="32000"/>
              <a:lumOff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676400" y="1676400"/>
            <a:ext cx="54864" cy="54864"/>
          </a:xfrm>
          <a:prstGeom prst="ellipse">
            <a:avLst/>
          </a:prstGeom>
          <a:solidFill>
            <a:srgbClr val="00B4D8">
              <a:lumMod val="28000"/>
              <a:lumOff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8400" y="1676400"/>
            <a:ext cx="18288" cy="18288"/>
          </a:xfrm>
          <a:prstGeom prst="ellipse">
            <a:avLst/>
          </a:prstGeom>
          <a:solidFill>
            <a:srgbClr val="00B4D8">
              <a:lumMod val="24000"/>
              <a:lumOff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200400" y="1676400"/>
            <a:ext cx="36576" cy="36576"/>
          </a:xfrm>
          <a:prstGeom prst="ellipse">
            <a:avLst/>
          </a:prstGeom>
          <a:solidFill>
            <a:srgbClr val="00B4D8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962400" y="1676400"/>
            <a:ext cx="54864" cy="54864"/>
          </a:xfrm>
          <a:prstGeom prst="ellipse">
            <a:avLst/>
          </a:prstGeom>
          <a:solidFill>
            <a:srgbClr val="00B4D8">
              <a:lumMod val="36000"/>
              <a:lumOff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24400" y="1676400"/>
            <a:ext cx="18288" cy="18288"/>
          </a:xfrm>
          <a:prstGeom prst="ellipse">
            <a:avLst/>
          </a:prstGeom>
          <a:solidFill>
            <a:srgbClr val="00B4D8">
              <a:lumMod val="32000"/>
              <a:lumOff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0" y="1676400"/>
            <a:ext cx="36576" cy="36576"/>
          </a:xfrm>
          <a:prstGeom prst="ellipse">
            <a:avLst/>
          </a:prstGeom>
          <a:solidFill>
            <a:srgbClr val="00B4D8">
              <a:lumMod val="28000"/>
              <a:lumOff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48400" y="1676400"/>
            <a:ext cx="54864" cy="54864"/>
          </a:xfrm>
          <a:prstGeom prst="ellipse">
            <a:avLst/>
          </a:prstGeom>
          <a:solidFill>
            <a:srgbClr val="00B4D8">
              <a:lumMod val="24000"/>
              <a:lumOff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010400" y="1676400"/>
            <a:ext cx="18288" cy="18288"/>
          </a:xfrm>
          <a:prstGeom prst="ellipse">
            <a:avLst/>
          </a:prstGeom>
          <a:solidFill>
            <a:srgbClr val="00B4D8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72400" y="1676400"/>
            <a:ext cx="36576" cy="36576"/>
          </a:xfrm>
          <a:prstGeom prst="ellipse">
            <a:avLst/>
          </a:prstGeom>
          <a:solidFill>
            <a:srgbClr val="00B4D8">
              <a:lumMod val="36000"/>
              <a:lumOff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34400" y="1676400"/>
            <a:ext cx="54864" cy="54864"/>
          </a:xfrm>
          <a:prstGeom prst="ellipse">
            <a:avLst/>
          </a:prstGeom>
          <a:solidFill>
            <a:srgbClr val="00B4D8">
              <a:lumMod val="32000"/>
              <a:lumOff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96400" y="1676400"/>
            <a:ext cx="18288" cy="18288"/>
          </a:xfrm>
          <a:prstGeom prst="ellipse">
            <a:avLst/>
          </a:prstGeom>
          <a:solidFill>
            <a:srgbClr val="00B4D8">
              <a:lumMod val="28000"/>
              <a:lumOff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" y="2438400"/>
            <a:ext cx="54864" cy="54864"/>
          </a:xfrm>
          <a:prstGeom prst="ellipse">
            <a:avLst/>
          </a:prstGeom>
          <a:solidFill>
            <a:srgbClr val="00B4D8">
              <a:lumMod val="24000"/>
              <a:lumOff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676400" y="2438400"/>
            <a:ext cx="18288" cy="18288"/>
          </a:xfrm>
          <a:prstGeom prst="ellipse">
            <a:avLst/>
          </a:prstGeom>
          <a:solidFill>
            <a:srgbClr val="00B4D8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438400" y="2438400"/>
            <a:ext cx="36576" cy="36576"/>
          </a:xfrm>
          <a:prstGeom prst="ellipse">
            <a:avLst/>
          </a:prstGeom>
          <a:solidFill>
            <a:srgbClr val="00B4D8">
              <a:lumMod val="36000"/>
              <a:lumOff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200400" y="2438400"/>
            <a:ext cx="54864" cy="54864"/>
          </a:xfrm>
          <a:prstGeom prst="ellipse">
            <a:avLst/>
          </a:prstGeom>
          <a:solidFill>
            <a:srgbClr val="00B4D8">
              <a:lumMod val="32000"/>
              <a:lumOff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962400" y="2438400"/>
            <a:ext cx="18288" cy="18288"/>
          </a:xfrm>
          <a:prstGeom prst="ellipse">
            <a:avLst/>
          </a:prstGeom>
          <a:solidFill>
            <a:srgbClr val="00B4D8">
              <a:lumMod val="28000"/>
              <a:lumOff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724400" y="2438400"/>
            <a:ext cx="36576" cy="36576"/>
          </a:xfrm>
          <a:prstGeom prst="ellipse">
            <a:avLst/>
          </a:prstGeom>
          <a:solidFill>
            <a:srgbClr val="00B4D8">
              <a:lumMod val="24000"/>
              <a:lumOff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486400" y="2438400"/>
            <a:ext cx="54864" cy="54864"/>
          </a:xfrm>
          <a:prstGeom prst="ellipse">
            <a:avLst/>
          </a:prstGeom>
          <a:solidFill>
            <a:srgbClr val="00B4D8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248400" y="2438400"/>
            <a:ext cx="18288" cy="18288"/>
          </a:xfrm>
          <a:prstGeom prst="ellipse">
            <a:avLst/>
          </a:prstGeom>
          <a:solidFill>
            <a:srgbClr val="00B4D8">
              <a:lumMod val="36000"/>
              <a:lumOff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10400" y="2438400"/>
            <a:ext cx="36576" cy="36576"/>
          </a:xfrm>
          <a:prstGeom prst="ellipse">
            <a:avLst/>
          </a:prstGeom>
          <a:solidFill>
            <a:srgbClr val="00B4D8">
              <a:lumMod val="32000"/>
              <a:lumOff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772400" y="2438400"/>
            <a:ext cx="54864" cy="54864"/>
          </a:xfrm>
          <a:prstGeom prst="ellipse">
            <a:avLst/>
          </a:prstGeom>
          <a:solidFill>
            <a:srgbClr val="00B4D8">
              <a:lumMod val="28000"/>
              <a:lumOff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534400" y="2438400"/>
            <a:ext cx="18288" cy="18288"/>
          </a:xfrm>
          <a:prstGeom prst="ellipse">
            <a:avLst/>
          </a:prstGeom>
          <a:solidFill>
            <a:srgbClr val="00B4D8">
              <a:lumMod val="24000"/>
              <a:lumOff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96400" y="2438400"/>
            <a:ext cx="36576" cy="36576"/>
          </a:xfrm>
          <a:prstGeom prst="ellipse">
            <a:avLst/>
          </a:prstGeom>
          <a:solidFill>
            <a:srgbClr val="00B4D8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14400" y="3200400"/>
            <a:ext cx="18288" cy="18288"/>
          </a:xfrm>
          <a:prstGeom prst="ellipse">
            <a:avLst/>
          </a:prstGeom>
          <a:solidFill>
            <a:srgbClr val="00B4D8">
              <a:lumMod val="36000"/>
              <a:lumOff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676400" y="3200400"/>
            <a:ext cx="36576" cy="36576"/>
          </a:xfrm>
          <a:prstGeom prst="ellipse">
            <a:avLst/>
          </a:prstGeom>
          <a:solidFill>
            <a:srgbClr val="00B4D8">
              <a:lumMod val="32000"/>
              <a:lumOff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438400" y="3200400"/>
            <a:ext cx="54864" cy="54864"/>
          </a:xfrm>
          <a:prstGeom prst="ellipse">
            <a:avLst/>
          </a:prstGeom>
          <a:solidFill>
            <a:srgbClr val="00B4D8">
              <a:lumMod val="28000"/>
              <a:lumOff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200400" y="3200400"/>
            <a:ext cx="18288" cy="18288"/>
          </a:xfrm>
          <a:prstGeom prst="ellipse">
            <a:avLst/>
          </a:prstGeom>
          <a:solidFill>
            <a:srgbClr val="00B4D8">
              <a:lumMod val="24000"/>
              <a:lumOff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62400" y="3200400"/>
            <a:ext cx="36576" cy="36576"/>
          </a:xfrm>
          <a:prstGeom prst="ellipse">
            <a:avLst/>
          </a:prstGeom>
          <a:solidFill>
            <a:srgbClr val="00B4D8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24400" y="3200400"/>
            <a:ext cx="54864" cy="54864"/>
          </a:xfrm>
          <a:prstGeom prst="ellipse">
            <a:avLst/>
          </a:prstGeom>
          <a:solidFill>
            <a:srgbClr val="00B4D8">
              <a:lumMod val="36000"/>
              <a:lumOff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486400" y="3200400"/>
            <a:ext cx="18288" cy="18288"/>
          </a:xfrm>
          <a:prstGeom prst="ellipse">
            <a:avLst/>
          </a:prstGeom>
          <a:solidFill>
            <a:srgbClr val="00B4D8">
              <a:lumMod val="32000"/>
              <a:lumOff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48400" y="3200400"/>
            <a:ext cx="36576" cy="36576"/>
          </a:xfrm>
          <a:prstGeom prst="ellipse">
            <a:avLst/>
          </a:prstGeom>
          <a:solidFill>
            <a:srgbClr val="00B4D8">
              <a:lumMod val="28000"/>
              <a:lumOff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010400" y="3200400"/>
            <a:ext cx="54864" cy="54864"/>
          </a:xfrm>
          <a:prstGeom prst="ellipse">
            <a:avLst/>
          </a:prstGeom>
          <a:solidFill>
            <a:srgbClr val="00B4D8">
              <a:lumMod val="24000"/>
              <a:lumOff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772400" y="3200400"/>
            <a:ext cx="18288" cy="18288"/>
          </a:xfrm>
          <a:prstGeom prst="ellipse">
            <a:avLst/>
          </a:prstGeom>
          <a:solidFill>
            <a:srgbClr val="00B4D8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534400" y="3200400"/>
            <a:ext cx="36576" cy="36576"/>
          </a:xfrm>
          <a:prstGeom prst="ellipse">
            <a:avLst/>
          </a:prstGeom>
          <a:solidFill>
            <a:srgbClr val="00B4D8">
              <a:lumMod val="36000"/>
              <a:lumOff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296400" y="3200400"/>
            <a:ext cx="54864" cy="54864"/>
          </a:xfrm>
          <a:prstGeom prst="ellipse">
            <a:avLst/>
          </a:prstGeom>
          <a:solidFill>
            <a:srgbClr val="00B4D8">
              <a:lumMod val="32000"/>
              <a:lumOff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14400" y="3962400"/>
            <a:ext cx="36576" cy="36576"/>
          </a:xfrm>
          <a:prstGeom prst="ellipse">
            <a:avLst/>
          </a:prstGeom>
          <a:solidFill>
            <a:srgbClr val="00B4D8">
              <a:lumMod val="28000"/>
              <a:lumOff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676400" y="3962400"/>
            <a:ext cx="54864" cy="54864"/>
          </a:xfrm>
          <a:prstGeom prst="ellipse">
            <a:avLst/>
          </a:prstGeom>
          <a:solidFill>
            <a:srgbClr val="00B4D8">
              <a:lumMod val="24000"/>
              <a:lumOff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438400" y="3962400"/>
            <a:ext cx="18288" cy="18288"/>
          </a:xfrm>
          <a:prstGeom prst="ellipse">
            <a:avLst/>
          </a:prstGeom>
          <a:solidFill>
            <a:srgbClr val="00B4D8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200400" y="3962400"/>
            <a:ext cx="36576" cy="36576"/>
          </a:xfrm>
          <a:prstGeom prst="ellipse">
            <a:avLst/>
          </a:prstGeom>
          <a:solidFill>
            <a:srgbClr val="00B4D8">
              <a:lumMod val="36000"/>
              <a:lumOff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962400" y="3962400"/>
            <a:ext cx="54864" cy="54864"/>
          </a:xfrm>
          <a:prstGeom prst="ellipse">
            <a:avLst/>
          </a:prstGeom>
          <a:solidFill>
            <a:srgbClr val="00B4D8">
              <a:lumMod val="32000"/>
              <a:lumOff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724400" y="3962400"/>
            <a:ext cx="18288" cy="18288"/>
          </a:xfrm>
          <a:prstGeom prst="ellipse">
            <a:avLst/>
          </a:prstGeom>
          <a:solidFill>
            <a:srgbClr val="00B4D8">
              <a:lumMod val="28000"/>
              <a:lumOff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486400" y="3962400"/>
            <a:ext cx="36576" cy="36576"/>
          </a:xfrm>
          <a:prstGeom prst="ellipse">
            <a:avLst/>
          </a:prstGeom>
          <a:solidFill>
            <a:srgbClr val="00B4D8">
              <a:lumMod val="24000"/>
              <a:lumOff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248400" y="3962400"/>
            <a:ext cx="54864" cy="54864"/>
          </a:xfrm>
          <a:prstGeom prst="ellipse">
            <a:avLst/>
          </a:prstGeom>
          <a:solidFill>
            <a:srgbClr val="00B4D8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010400" y="3962400"/>
            <a:ext cx="18288" cy="18288"/>
          </a:xfrm>
          <a:prstGeom prst="ellipse">
            <a:avLst/>
          </a:prstGeom>
          <a:solidFill>
            <a:srgbClr val="00B4D8">
              <a:lumMod val="36000"/>
              <a:lumOff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72400" y="3962400"/>
            <a:ext cx="36576" cy="36576"/>
          </a:xfrm>
          <a:prstGeom prst="ellipse">
            <a:avLst/>
          </a:prstGeom>
          <a:solidFill>
            <a:srgbClr val="00B4D8">
              <a:lumMod val="32000"/>
              <a:lumOff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534400" y="3962400"/>
            <a:ext cx="54864" cy="54864"/>
          </a:xfrm>
          <a:prstGeom prst="ellipse">
            <a:avLst/>
          </a:prstGeom>
          <a:solidFill>
            <a:srgbClr val="00B4D8">
              <a:lumMod val="28000"/>
              <a:lumOff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296400" y="3962400"/>
            <a:ext cx="18288" cy="18288"/>
          </a:xfrm>
          <a:prstGeom prst="ellipse">
            <a:avLst/>
          </a:prstGeom>
          <a:solidFill>
            <a:srgbClr val="00B4D8">
              <a:lumMod val="24000"/>
              <a:lumOff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14400" y="4724400"/>
            <a:ext cx="54864" cy="54864"/>
          </a:xfrm>
          <a:prstGeom prst="ellipse">
            <a:avLst/>
          </a:prstGeom>
          <a:solidFill>
            <a:srgbClr val="00B4D8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676400" y="4724400"/>
            <a:ext cx="18288" cy="18288"/>
          </a:xfrm>
          <a:prstGeom prst="ellipse">
            <a:avLst/>
          </a:prstGeom>
          <a:solidFill>
            <a:srgbClr val="00B4D8">
              <a:lumMod val="36000"/>
              <a:lumOff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438400" y="4724400"/>
            <a:ext cx="36576" cy="36576"/>
          </a:xfrm>
          <a:prstGeom prst="ellipse">
            <a:avLst/>
          </a:prstGeom>
          <a:solidFill>
            <a:srgbClr val="00B4D8">
              <a:lumMod val="32000"/>
              <a:lumOff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200400" y="4724400"/>
            <a:ext cx="54864" cy="54864"/>
          </a:xfrm>
          <a:prstGeom prst="ellipse">
            <a:avLst/>
          </a:prstGeom>
          <a:solidFill>
            <a:srgbClr val="00B4D8">
              <a:lumMod val="28000"/>
              <a:lumOff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962400" y="4724400"/>
            <a:ext cx="18288" cy="18288"/>
          </a:xfrm>
          <a:prstGeom prst="ellipse">
            <a:avLst/>
          </a:prstGeom>
          <a:solidFill>
            <a:srgbClr val="00B4D8">
              <a:lumMod val="24000"/>
              <a:lumOff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724400" y="4724400"/>
            <a:ext cx="36576" cy="36576"/>
          </a:xfrm>
          <a:prstGeom prst="ellipse">
            <a:avLst/>
          </a:prstGeom>
          <a:solidFill>
            <a:srgbClr val="00B4D8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486400" y="4724400"/>
            <a:ext cx="54864" cy="54864"/>
          </a:xfrm>
          <a:prstGeom prst="ellipse">
            <a:avLst/>
          </a:prstGeom>
          <a:solidFill>
            <a:srgbClr val="00B4D8">
              <a:lumMod val="36000"/>
              <a:lumOff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248400" y="4724400"/>
            <a:ext cx="18288" cy="18288"/>
          </a:xfrm>
          <a:prstGeom prst="ellipse">
            <a:avLst/>
          </a:prstGeom>
          <a:solidFill>
            <a:srgbClr val="00B4D8">
              <a:lumMod val="32000"/>
              <a:lumOff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010400" y="4724400"/>
            <a:ext cx="36576" cy="36576"/>
          </a:xfrm>
          <a:prstGeom prst="ellipse">
            <a:avLst/>
          </a:prstGeom>
          <a:solidFill>
            <a:srgbClr val="00B4D8">
              <a:lumMod val="28000"/>
              <a:lumOff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772400" y="4724400"/>
            <a:ext cx="54864" cy="54864"/>
          </a:xfrm>
          <a:prstGeom prst="ellipse">
            <a:avLst/>
          </a:prstGeom>
          <a:solidFill>
            <a:srgbClr val="00B4D8">
              <a:lumMod val="24000"/>
              <a:lumOff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534400" y="4724400"/>
            <a:ext cx="18288" cy="18288"/>
          </a:xfrm>
          <a:prstGeom prst="ellipse">
            <a:avLst/>
          </a:prstGeom>
          <a:solidFill>
            <a:srgbClr val="00B4D8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296400" y="4724400"/>
            <a:ext cx="36576" cy="36576"/>
          </a:xfrm>
          <a:prstGeom prst="ellipse">
            <a:avLst/>
          </a:prstGeom>
          <a:solidFill>
            <a:srgbClr val="00B4D8">
              <a:lumMod val="36000"/>
              <a:lumOff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AI大模型：开启智能新纪元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0E0E0"/>
                </a:solidFill>
                <a:latin typeface="微软雅黑"/>
              </a:defRPr>
            </a:pPr>
            <a:r>
              <a:t>从GPT到多模态，技术演进与应用探索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9600" y="5303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>
                <a:solidFill>
                  <a:srgbClr val="00B4D8"/>
                </a:solidFill>
                <a:latin typeface="等线"/>
              </a:defRPr>
            </a:pPr>
            <a:r>
              <a:t>AI技术研究团队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29600" y="57607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E0E0E0"/>
                </a:solidFill>
                <a:latin typeface="等线"/>
              </a:defRPr>
            </a:pPr>
            <a:r>
              <a:t>2026年4月</a:t>
            </a:r>
          </a:p>
        </p:txBody>
      </p:sp>
      <p:sp>
        <p:nvSpPr>
          <p:cNvPr id="79" name="Donut 78"/>
          <p:cNvSpPr/>
          <p:nvPr/>
        </p:nvSpPr>
        <p:spPr>
          <a:xfrm>
            <a:off x="457200" y="5029200"/>
            <a:ext cx="548640" cy="548640"/>
          </a:xfrm>
          <a:prstGeom prst="donut">
            <a:avLst/>
          </a:prstGeom>
          <a:solidFill>
            <a:srgbClr val="00B4D8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10972800" y="457200"/>
            <a:ext cx="731520" cy="457200"/>
          </a:xfrm>
          <a:prstGeom prst="roundRect">
            <a:avLst/>
          </a:prstGeom>
          <a:solidFill>
            <a:srgbClr val="FFFFFF">
              <a:lumMod val="80000"/>
              <a:lumOff val="20000"/>
            </a:srgbClr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743200" y="2743200"/>
            <a:ext cx="6400800" cy="91440"/>
          </a:xfrm>
          <a:prstGeom prst="rect">
            <a:avLst/>
          </a:prstGeom>
          <a:solidFill>
            <a:srgbClr val="00B4D8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