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5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4A5568"/>
                </a:solidFill>
              </a:defRPr>
            </a:pPr>
            <a:r>
              <a:t>文学成就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A202C"/>
                </a:solidFill>
              </a:defRPr>
            </a:pPr>
            <a:r>
              <a:t>马尔克斯的文学成就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3179978" cy="22631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051560"/>
            <a:ext cx="54864" cy="22631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188719"/>
            <a:ext cx="411480" cy="411480"/>
          </a:xfrm>
          <a:prstGeom prst="round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2344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8E8F0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234439"/>
            <a:ext cx="23112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3748"/>
                </a:solidFill>
              </a:defRPr>
            </a:pPr>
            <a:r>
              <a:t>《百年孤独》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59"/>
            <a:ext cx="2814218" cy="112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1967年出版，魔幻现实主义代表作，全球销量超5000万册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7218" y="1051560"/>
            <a:ext cx="3179978" cy="22631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57218" y="1051560"/>
            <a:ext cx="54864" cy="22631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40098" y="1188719"/>
            <a:ext cx="411480" cy="411480"/>
          </a:xfrm>
          <a:prstGeom prst="round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0098" y="12344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8E8F0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3018" y="1234439"/>
            <a:ext cx="23112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3748"/>
                </a:solidFill>
              </a:defRPr>
            </a:pPr>
            <a:r>
              <a:t>《霍乱时期的爱情》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40098" y="1737359"/>
            <a:ext cx="2814218" cy="112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1985年出版，被誉为人类有史以来最伟大的爱情小说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65796" y="1051560"/>
            <a:ext cx="3179978" cy="22631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5796" y="1051560"/>
            <a:ext cx="54864" cy="22631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48676" y="1188719"/>
            <a:ext cx="411480" cy="411480"/>
          </a:xfrm>
          <a:prstGeom prst="round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48676" y="1234439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8E8F0"/>
                </a:solidFill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51596" y="1234439"/>
            <a:ext cx="23112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3748"/>
                </a:solidFill>
              </a:defRPr>
            </a:pPr>
            <a:r>
              <a:t>《族长的秋天》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8676" y="1737359"/>
            <a:ext cx="2814218" cy="11201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1975年出版，实验性独白体小说，拉美文学巅峰之作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543300"/>
            <a:ext cx="3179978" cy="22631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543300"/>
            <a:ext cx="54864" cy="22631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3680460"/>
            <a:ext cx="411480" cy="411480"/>
          </a:xfrm>
          <a:prstGeom prst="round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7261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8E8F0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3726180"/>
            <a:ext cx="23112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3748"/>
                </a:solidFill>
              </a:defRPr>
            </a:pPr>
            <a:r>
              <a:t>《一桩事先张扬的凶杀案》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29100"/>
            <a:ext cx="2814218" cy="112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1981年出版，基于真实事件，探讨集体沉默与命运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57218" y="3543300"/>
            <a:ext cx="3179978" cy="22631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57218" y="3543300"/>
            <a:ext cx="54864" cy="22631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140098" y="3680460"/>
            <a:ext cx="411480" cy="411480"/>
          </a:xfrm>
          <a:prstGeom prst="round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40098" y="37261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8E8F0"/>
                </a:solidFill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3018" y="3726180"/>
            <a:ext cx="23112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3748"/>
                </a:solidFill>
              </a:defRPr>
            </a:pPr>
            <a:r>
              <a:t>《苦妓回忆录》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40098" y="4229100"/>
            <a:ext cx="2814218" cy="112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2004年出版，马尔克斯最后一部长篇小说，80岁高龄完成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65796" y="3543300"/>
            <a:ext cx="3179978" cy="2263140"/>
          </a:xfrm>
          <a:prstGeom prst="rect">
            <a:avLst/>
          </a:prstGeom>
          <a:solidFill>
            <a:srgbClr val="E8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365796" y="3543300"/>
            <a:ext cx="54864" cy="226314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48676" y="3680460"/>
            <a:ext cx="411480" cy="411480"/>
          </a:xfrm>
          <a:prstGeom prst="round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8676" y="372618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8E8F0"/>
                </a:solidFill>
              </a:defRPr>
            </a:pPr>
            <a:r>
              <a:t>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51596" y="3726180"/>
            <a:ext cx="231129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2D3748"/>
                </a:solidFill>
              </a:defRPr>
            </a:pPr>
            <a:r>
              <a:t>诺贝尔文学奖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48676" y="4229100"/>
            <a:ext cx="2814218" cy="1120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1A202C"/>
                </a:solidFill>
              </a:defRPr>
            </a:pPr>
            <a:r>
              <a:t>1982年获奖，颁奖词称其小说世界中的丰富而想象的世界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