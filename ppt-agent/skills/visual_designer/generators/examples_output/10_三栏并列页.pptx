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5019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1A202C"/>
                </a:solidFill>
              </a:defRPr>
            </a:pPr>
            <a:r>
              <a:t>三代核心人物对比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3474720" cy="4572000"/>
          </a:xfrm>
          <a:prstGeom prst="rect">
            <a:avLst/>
          </a:prstGeom>
          <a:solidFill>
            <a:srgbClr val="E8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3474720" cy="640080"/>
          </a:xfrm>
          <a:prstGeom prst="rect">
            <a:avLst/>
          </a:prstGeom>
          <a:solidFill>
            <a:srgbClr val="5A8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1731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D8E8F0"/>
                </a:solidFill>
              </a:defRPr>
            </a:pPr>
            <a:r>
              <a:t>第一代：开创者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359152"/>
            <a:ext cx="109728" cy="109728"/>
          </a:xfrm>
          <a:prstGeom prst="rect">
            <a:avLst/>
          </a:prstGeom>
          <a:solidFill>
            <a:srgbClr val="5A8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194560"/>
            <a:ext cx="2926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1A202C"/>
                </a:solidFill>
              </a:defRPr>
            </a:pPr>
            <a:r>
              <a:t>何塞·阿尔卡蒂奥·布恩迪亚：建立马孔多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182112"/>
            <a:ext cx="109728" cy="109728"/>
          </a:xfrm>
          <a:prstGeom prst="rect">
            <a:avLst/>
          </a:prstGeom>
          <a:solidFill>
            <a:srgbClr val="5A8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017520"/>
            <a:ext cx="2926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1A202C"/>
                </a:solidFill>
              </a:defRPr>
            </a:pPr>
            <a:r>
              <a:t>乌尔苏拉：家族精神支柱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005072"/>
            <a:ext cx="109728" cy="109728"/>
          </a:xfrm>
          <a:prstGeom prst="rect">
            <a:avLst/>
          </a:prstGeom>
          <a:solidFill>
            <a:srgbClr val="5A8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840480"/>
            <a:ext cx="2926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1A202C"/>
                </a:solidFill>
              </a:defRPr>
            </a:pPr>
            <a:r>
              <a:t>代表开拓与理想主义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79" y="1280160"/>
            <a:ext cx="3474720" cy="4572000"/>
          </a:xfrm>
          <a:prstGeom prst="rect">
            <a:avLst/>
          </a:prstGeom>
          <a:solidFill>
            <a:srgbClr val="E8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79" y="1280160"/>
            <a:ext cx="3474720" cy="640080"/>
          </a:xfrm>
          <a:prstGeom prst="rect">
            <a:avLst/>
          </a:prstGeom>
          <a:solidFill>
            <a:srgbClr val="7B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40" y="141731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A202C"/>
                </a:solidFill>
              </a:defRPr>
            </a:pPr>
            <a:r>
              <a:t>第二代：战争与权力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59" y="2359152"/>
            <a:ext cx="109728" cy="109728"/>
          </a:xfrm>
          <a:prstGeom prst="rect">
            <a:avLst/>
          </a:prstGeom>
          <a:solidFill>
            <a:srgbClr val="7B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09159" y="2194560"/>
            <a:ext cx="2926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1A202C"/>
                </a:solidFill>
              </a:defRPr>
            </a:pPr>
            <a:r>
              <a:t>奥雷里亚诺上校：32场起义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80559" y="3182112"/>
            <a:ext cx="109728" cy="109728"/>
          </a:xfrm>
          <a:prstGeom prst="rect">
            <a:avLst/>
          </a:prstGeom>
          <a:solidFill>
            <a:srgbClr val="7B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09159" y="3017520"/>
            <a:ext cx="2926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1A202C"/>
                </a:solidFill>
              </a:defRPr>
            </a:pPr>
            <a:r>
              <a:t>阿尔卡蒂奥：独裁统治马孔多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80559" y="4005072"/>
            <a:ext cx="109728" cy="109728"/>
          </a:xfrm>
          <a:prstGeom prst="rect">
            <a:avLst/>
          </a:prstGeom>
          <a:solidFill>
            <a:srgbClr val="7B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09159" y="3840480"/>
            <a:ext cx="2926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1A202C"/>
                </a:solidFill>
              </a:defRPr>
            </a:pPr>
            <a:r>
              <a:t>代表暴力与权力异化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46719" y="1280160"/>
            <a:ext cx="3474720" cy="4572000"/>
          </a:xfrm>
          <a:prstGeom prst="rect">
            <a:avLst/>
          </a:prstGeom>
          <a:solidFill>
            <a:srgbClr val="E8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46719" y="1280160"/>
            <a:ext cx="3474720" cy="640080"/>
          </a:xfrm>
          <a:prstGeom prst="rect">
            <a:avLst/>
          </a:prstGeom>
          <a:solidFill>
            <a:srgbClr val="A8C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83879" y="141731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A202C"/>
                </a:solidFill>
              </a:defRPr>
            </a:pPr>
            <a:r>
              <a:t>第三代：衰落与毁灭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599" y="2359152"/>
            <a:ext cx="109728" cy="109728"/>
          </a:xfrm>
          <a:prstGeom prst="rect">
            <a:avLst/>
          </a:prstGeom>
          <a:solidFill>
            <a:srgbClr val="A8C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58199" y="2194560"/>
            <a:ext cx="2926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1A202C"/>
                </a:solidFill>
              </a:defRPr>
            </a:pPr>
            <a:r>
              <a:t>奥雷里亚诺第二：奢靡放纵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599" y="3182112"/>
            <a:ext cx="109728" cy="109728"/>
          </a:xfrm>
          <a:prstGeom prst="rect">
            <a:avLst/>
          </a:prstGeom>
          <a:solidFill>
            <a:srgbClr val="A8C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58199" y="3017520"/>
            <a:ext cx="2926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1A202C"/>
                </a:solidFill>
              </a:defRPr>
            </a:pPr>
            <a:r>
              <a:t>阿尔卡蒂奥第三：见证大屠杀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599" y="4005072"/>
            <a:ext cx="109728" cy="109728"/>
          </a:xfrm>
          <a:prstGeom prst="rect">
            <a:avLst/>
          </a:prstGeom>
          <a:solidFill>
            <a:srgbClr val="A8C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58199" y="3840480"/>
            <a:ext cx="2926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1A202C"/>
                </a:solidFill>
              </a:defRPr>
            </a:pPr>
            <a:r>
              <a:t>代表堕落与历史遗忘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