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202C"/>
                </a:solidFill>
              </a:defRPr>
            </a:pPr>
            <a:r>
              <a:t>关键数据一览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11277295" cy="41148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0098" y="1965960"/>
            <a:ext cx="1973526" cy="1973526"/>
          </a:xfrm>
          <a:prstGeom prst="ellipse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8166" y="2148840"/>
            <a:ext cx="253739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2D3748"/>
                </a:solidFill>
              </a:defRPr>
            </a:pPr>
            <a:r>
              <a:t>1967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166" y="3429000"/>
            <a:ext cx="2537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5568"/>
                </a:solidFill>
              </a:defRPr>
            </a:pPr>
            <a:r>
              <a:t>年</a:t>
            </a:r>
          </a:p>
        </p:txBody>
      </p:sp>
      <p:sp>
        <p:nvSpPr>
          <p:cNvPr id="8" name="Rectangle 7"/>
          <p:cNvSpPr/>
          <p:nvPr/>
        </p:nvSpPr>
        <p:spPr>
          <a:xfrm>
            <a:off x="1318221" y="3931920"/>
            <a:ext cx="1097280" cy="3200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8221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C5282"/>
                </a:solidFill>
              </a:defRPr>
            </a:pPr>
            <a:r>
              <a:t>哥伦比亚作家出版社首发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166" y="4434840"/>
            <a:ext cx="2537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18096"/>
                </a:solidFill>
              </a:defRPr>
            </a:pPr>
            <a:r>
              <a:t>首次出版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7379" y="233172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99422" y="1965960"/>
            <a:ext cx="1973526" cy="1973526"/>
          </a:xfrm>
          <a:prstGeom prst="ellipse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7489" y="2148840"/>
            <a:ext cx="253739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2D3748"/>
                </a:solidFill>
              </a:defRPr>
            </a:pPr>
            <a:r>
              <a:t>5000万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7489" y="3429000"/>
            <a:ext cx="2537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5568"/>
                </a:solidFill>
              </a:defRPr>
            </a:pPr>
            <a:r>
              <a:t>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7545" y="3931920"/>
            <a:ext cx="1097280" cy="3200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7545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C5282"/>
                </a:solidFill>
              </a:defRPr>
            </a:pPr>
            <a:r>
              <a:t>西班牙语小说最高纪录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7489" y="4434840"/>
            <a:ext cx="2537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18096"/>
                </a:solidFill>
              </a:defRPr>
            </a:pPr>
            <a:r>
              <a:t>全球销量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6703" y="233172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8746" y="1965960"/>
            <a:ext cx="1973526" cy="1973526"/>
          </a:xfrm>
          <a:prstGeom prst="ellipse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813" y="2148840"/>
            <a:ext cx="253739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2D3748"/>
                </a:solidFill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813" y="3429000"/>
            <a:ext cx="2537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5568"/>
                </a:solidFill>
              </a:defRPr>
            </a:pPr>
            <a:r>
              <a:t>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6869" y="3931920"/>
            <a:ext cx="1097280" cy="3200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6869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C5282"/>
                </a:solidFill>
              </a:defRPr>
            </a:pPr>
            <a:r>
              <a:t>跨越144年家族史诗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813" y="4434840"/>
            <a:ext cx="2537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18096"/>
                </a:solidFill>
              </a:defRPr>
            </a:pPr>
            <a:r>
              <a:t>布恩迪亚家族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6027" y="233172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38069" y="1965960"/>
            <a:ext cx="1973526" cy="1973526"/>
          </a:xfrm>
          <a:prstGeom prst="ellipse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6137" y="2148840"/>
            <a:ext cx="253739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2D3748"/>
                </a:solidFill>
              </a:defRPr>
            </a:pPr>
            <a:r>
              <a:t>1982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6137" y="3429000"/>
            <a:ext cx="2537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5568"/>
                </a:solidFill>
              </a:defRPr>
            </a:pPr>
            <a:r>
              <a:t>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6193" y="3931920"/>
            <a:ext cx="1097280" cy="3200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6193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C5282"/>
                </a:solidFill>
              </a:defRPr>
            </a:pPr>
            <a:r>
              <a:t>马尔克斯获此殊荣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6137" y="4434840"/>
            <a:ext cx="2537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18096"/>
                </a:solidFill>
              </a:defRPr>
            </a:pPr>
            <a:r>
              <a:t>诺贝尔文学奖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