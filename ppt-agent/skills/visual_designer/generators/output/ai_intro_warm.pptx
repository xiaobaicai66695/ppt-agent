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0" y="5669280"/>
            <a:ext cx="3200400" cy="164592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5486400"/>
            <a:ext cx="1097280" cy="1097280"/>
          </a:xfrm>
          <a:prstGeom prst="ellipse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"/>
            <a:ext cx="731520" cy="73152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4A3A32"/>
                </a:solidFill>
              </a:defRPr>
            </a:pPr>
            <a:r>
              <a:t>AI大模型技术概述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D4A574"/>
                </a:solidFill>
              </a:defRPr>
            </a:pPr>
            <a:r>
              <a:t>从基础原理到行业应用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AF5F2"/>
                </a:solidFill>
              </a:defRPr>
            </a:pPr>
            <a:r>
              <a:t>技术研发部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A8A82"/>
                </a:solidFill>
              </a:defRPr>
            </a:pPr>
            <a:r>
              <a:t>2025年1月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47060"/>
                </a:solidFill>
              </a:defRPr>
            </a:pPr>
            <a:r>
              <a:t>三大技术里程碑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01  什么是大模型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02  技术发展历程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03  核心原理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04  能力与特点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9028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05  行业应用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AF5F2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4A3A32"/>
                </a:solidFill>
              </a:defRPr>
            </a:pPr>
            <a:r>
              <a:t>什么是大模型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4A574"/>
                </a:solidFill>
              </a:defRPr>
            </a:pPr>
            <a:r>
              <a:t>AI的新范式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大模型的定义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47060"/>
                </a:solidFill>
              </a:defRPr>
            </a:pPr>
            <a:r>
              <a:t>大语言模型（LLM）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基于海量数据训练的超大规模神经网络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参数规模从数亿到数千亿不等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通过自监督学习从文本中自动提取知识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具备涌现能力（Emergent Capabilities）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规模与能力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C47060"/>
                </a:solidFill>
              </a:defRPr>
            </a:pPr>
            <a:r>
              <a:t>1750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D4A574"/>
                </a:solidFill>
              </a:defRPr>
            </a:pPr>
            <a:r>
              <a:t>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A8A82"/>
                </a:solidFill>
              </a:defRPr>
            </a:pPr>
            <a:r>
              <a:t>GPT-3 参数规模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154" y="2011680"/>
            <a:ext cx="18288" cy="228600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9178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C47060"/>
                </a:solidFill>
              </a:defRPr>
            </a:pPr>
            <a: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D4A574"/>
                </a:solidFill>
              </a:defRPr>
            </a:pPr>
            <a:r>
              <a:t>TB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A8A82"/>
                </a:solidFill>
              </a:defRPr>
            </a:pPr>
            <a:r>
              <a:t>训练数据量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6252" y="2011680"/>
            <a:ext cx="18288" cy="228600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C47060"/>
                </a:solidFill>
              </a:defRPr>
            </a:pPr>
            <a: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D4A574"/>
                </a:solidFill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A8A82"/>
                </a:solidFill>
              </a:defRPr>
            </a:pPr>
            <a:r>
              <a:t>涌现能力数量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AF5F2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4A3A32"/>
                </a:solidFill>
              </a:defRPr>
            </a:pPr>
            <a:r>
              <a:t>技术发展历程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4A574"/>
                </a:solidFill>
              </a:defRPr>
            </a:pPr>
            <a:r>
              <a:t>从感知机到Transformer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发展里程碑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639312"/>
            <a:ext cx="9875520" cy="36576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3520440"/>
            <a:ext cx="274320" cy="274320"/>
          </a:xfrm>
          <a:prstGeom prst="ellipse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47060"/>
                </a:solidFill>
              </a:defRPr>
            </a:pPr>
            <a:r>
              <a:t>1957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4A3A32"/>
                </a:solidFill>
              </a:defRPr>
            </a:pPr>
            <a:r>
              <a:t>感知机</a:t>
            </a:r>
            <a:br/>
            <a:r>
              <a:t>首个线性分类器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8136" y="2743200"/>
            <a:ext cx="18288" cy="77724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29000" y="3520440"/>
            <a:ext cx="274320" cy="274320"/>
          </a:xfrm>
          <a:prstGeom prst="ellipse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47060"/>
                </a:solidFill>
              </a:defRPr>
            </a:pPr>
            <a:r>
              <a:t>1986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4A3A32"/>
                </a:solidFill>
              </a:defRPr>
            </a:pPr>
            <a:r>
              <a:t>反向传播</a:t>
            </a:r>
            <a:br/>
            <a:r>
              <a:t>多层网络训练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7016" y="3017520"/>
            <a:ext cx="18288" cy="77724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0" y="3520440"/>
            <a:ext cx="274320" cy="274320"/>
          </a:xfrm>
          <a:prstGeom prst="ellipse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47060"/>
                </a:solidFill>
              </a:defRPr>
            </a:pPr>
            <a:r>
              <a:t>1998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4A3A32"/>
                </a:solidFill>
              </a:defRPr>
            </a:pPr>
            <a:r>
              <a:t>LeNet</a:t>
            </a:r>
            <a:br/>
            <a:r>
              <a:t>卷积神经网络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2743200"/>
            <a:ext cx="18288" cy="77724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3520440"/>
            <a:ext cx="274320" cy="274320"/>
          </a:xfrm>
          <a:prstGeom prst="ellipse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47060"/>
                </a:solidFill>
              </a:defRPr>
            </a:pPr>
            <a: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82880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4A3A32"/>
                </a:solidFill>
              </a:defRPr>
            </a:pPr>
            <a:r>
              <a:t>Transformer</a:t>
            </a:r>
            <a:br/>
            <a:r>
              <a:t>注意力机制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94776" y="3017520"/>
            <a:ext cx="18288" cy="77724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35640" y="3520440"/>
            <a:ext cx="274320" cy="274320"/>
          </a:xfrm>
          <a:prstGeom prst="ellipse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47060"/>
                </a:solidFill>
              </a:defRPr>
            </a:pPr>
            <a: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02336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4A3A32"/>
                </a:solidFill>
              </a:defRPr>
            </a:pPr>
            <a:r>
              <a:t>GPT-3</a:t>
            </a:r>
            <a:br/>
            <a:r>
              <a:t>超大模型涌现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63656" y="2743200"/>
            <a:ext cx="18288" cy="77724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AF5F2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4A3A32"/>
                </a:solidFill>
              </a:defRPr>
            </a:pPr>
            <a:r>
              <a:t>核心原理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4A574"/>
                </a:solidFill>
              </a:defRPr>
            </a:pPr>
            <a:r>
              <a:t>Transformer架构与涌现能力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54864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Transformer架构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47060"/>
                </a:solidFill>
              </a:defRPr>
            </a:pPr>
            <a:r>
              <a:t>核心组件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1284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自注意力机制：任意位置直接建模依赖关系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0720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多头注意力：并行学习不同子空间的特征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0156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位置编码：注入序列位置信息（非RNN）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95928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前馈网络：非线性变换与特征提取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涌现能力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884267" cy="24003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24003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47060"/>
                </a:solidFill>
              </a:defRPr>
            </a:pPr>
            <a:r>
              <a:t>思维链推理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分步思考复杂问题，逻辑链可追溯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1507" y="1188720"/>
            <a:ext cx="4884267" cy="24003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1507" y="1188720"/>
            <a:ext cx="54864" cy="24003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4387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47060"/>
                </a:solidFill>
              </a:defRPr>
            </a:pPr>
            <a:r>
              <a:t>上下文学习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无需微调，通过示例完成新任务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17620"/>
            <a:ext cx="4884267" cy="24003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17620"/>
            <a:ext cx="54864" cy="24003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47060"/>
                </a:solidFill>
              </a:defRPr>
            </a:pPr>
            <a:r>
              <a:t>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根据描述自动生成可执行代码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1507" y="3817620"/>
            <a:ext cx="4884267" cy="24003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1507" y="3817620"/>
            <a:ext cx="54864" cy="24003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387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47060"/>
                </a:solidFill>
              </a:defRPr>
            </a:pPr>
            <a:r>
              <a:t>多模态理解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387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同时处理文本、图像、音频输入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AF5F2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4A3A32"/>
                </a:solidFill>
              </a:defRPr>
            </a:pPr>
            <a:r>
              <a:t>能力与特点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4A574"/>
                </a:solidFill>
              </a:defRPr>
            </a:pPr>
            <a:r>
              <a:t>大模型的核心优势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4884267" cy="24003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" cy="24003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47060"/>
                </a:solidFill>
              </a:defRPr>
            </a:pPr>
            <a:r>
              <a:t>强大的语言理解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精准把握语义与上下文意图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1507" y="1188720"/>
            <a:ext cx="4884267" cy="24003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1507" y="1188720"/>
            <a:ext cx="54864" cy="24003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4387" y="13258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47060"/>
                </a:solidFill>
              </a:defRPr>
            </a:pPr>
            <a:r>
              <a:t>高质量内容生成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387" y="17830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文章、代码、创意内容自动生成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17620"/>
            <a:ext cx="4884267" cy="24003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17620"/>
            <a:ext cx="54864" cy="24003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47060"/>
                </a:solidFill>
              </a:defRPr>
            </a:pPr>
            <a:r>
              <a:t>知识推理与问答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跨知识库关联分析与精准回答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1507" y="3817620"/>
            <a:ext cx="4884267" cy="24003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1507" y="3817620"/>
            <a:ext cx="54864" cy="24003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387" y="3954780"/>
            <a:ext cx="460994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47060"/>
                </a:solidFill>
              </a:defRPr>
            </a:pPr>
            <a:r>
              <a:t>多语言支持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4387" y="4411980"/>
            <a:ext cx="4609947" cy="166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原生支持100+语言跨语言任务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AF5F2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4A3A32"/>
                </a:solidFill>
              </a:defRPr>
            </a:pPr>
            <a:r>
              <a:t>行业应用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4A574"/>
                </a:solidFill>
              </a:defRPr>
            </a:pPr>
            <a:r>
              <a:t>大模型正在改变各行各业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行业应用案例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474720" cy="45720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64008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AF5F2"/>
                </a:solidFill>
              </a:defRPr>
            </a:pPr>
            <a:r>
              <a:t>01 金融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59152"/>
            <a:ext cx="109728" cy="109728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智能风控与反欺诈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82112"/>
            <a:ext cx="109728" cy="109728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智能投顾与理财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05072"/>
            <a:ext cx="109728" cy="109728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合同智能审核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3474720" cy="45720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474720" cy="64008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4A3A32"/>
                </a:solidFill>
              </a:defRPr>
            </a:pPr>
            <a:r>
              <a:t>02 医疗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359152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医学影像辅助诊断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182112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新药研发加速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005072"/>
            <a:ext cx="109728" cy="10972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电子病历智能分析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1280160"/>
            <a:ext cx="3474720" cy="45720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19" y="1280160"/>
            <a:ext cx="3474720" cy="640080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4A3A32"/>
                </a:solidFill>
              </a:defRPr>
            </a:pPr>
            <a:r>
              <a:t>03 制造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2359152"/>
            <a:ext cx="109728" cy="109728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19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质量缺陷智能检测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3182112"/>
            <a:ext cx="109728" cy="109728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预测性设备维护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9" y="4005072"/>
            <a:ext cx="109728" cy="109728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A3A32"/>
                </a:solidFill>
              </a:defRPr>
            </a:pPr>
            <a:r>
              <a:t>工艺参数优化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应用效果数据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C47060"/>
                </a:solidFill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D4A574"/>
                </a:solidFill>
              </a:defRPr>
            </a:pPr>
            <a:r>
              <a:t>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A8A82"/>
                </a:solidFill>
              </a:defRPr>
            </a:pPr>
            <a:r>
              <a:t>金融机构效率提升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154" y="2011680"/>
            <a:ext cx="18288" cy="228600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9178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C47060"/>
                </a:solidFill>
              </a:defRPr>
            </a:pPr>
            <a: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9178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D4A574"/>
                </a:solidFill>
              </a:defRPr>
            </a:pPr>
            <a: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178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A8A82"/>
                </a:solidFill>
              </a:defRPr>
            </a:pPr>
            <a:r>
              <a:t>新药研发周期缩短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66252" y="2011680"/>
            <a:ext cx="18288" cy="2286000"/>
          </a:xfrm>
          <a:prstGeom prst="rect">
            <a:avLst/>
          </a:prstGeom>
          <a:solidFill>
            <a:srgbClr val="D8C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8276" y="1828800"/>
            <a:ext cx="33933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C47060"/>
                </a:solidFill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310896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D4A574"/>
                </a:solidFill>
              </a:defRPr>
            </a:pPr>
            <a: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3840480"/>
            <a:ext cx="33933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A8A82"/>
                </a:solidFill>
              </a:defRPr>
            </a:pPr>
            <a:r>
              <a:t>制造缺陷率降低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AF5F2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5603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4A3A32"/>
                </a:solidFill>
              </a:defRPr>
            </a:pPr>
            <a:r>
              <a:t>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374903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4A574"/>
                </a:solidFill>
              </a:defRPr>
            </a:pPr>
            <a:r>
              <a:t>技术趋势与挑战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097280" cy="54864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发展趋势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" cy="109728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47060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3A32"/>
                </a:solidFill>
              </a:defRPr>
            </a:pPr>
            <a:r>
              <a:t>多模态融合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A8A82"/>
                </a:solidFill>
              </a:defRPr>
            </a:pPr>
            <a:r>
              <a:t>文本/图像/视频/音频统一建模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45920"/>
            <a:ext cx="2743200" cy="10972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645920"/>
            <a:ext cx="73152" cy="109728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4706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3A32"/>
                </a:solidFill>
              </a:defRPr>
            </a:pPr>
            <a:r>
              <a:t>Agent智能体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A8A82"/>
                </a:solidFill>
              </a:defRPr>
            </a:pPr>
            <a:r>
              <a:t>自主规划与执行复杂任务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2743200" cy="10972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73152" cy="109728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47060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3A32"/>
                </a:solidFill>
              </a:defRPr>
            </a:pPr>
            <a:r>
              <a:t>端侧部署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A8A82"/>
                </a:solidFill>
              </a:defRPr>
            </a:pPr>
            <a:r>
              <a:t>本地化推理保护隐私降低成本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D4A574"/>
                </a:solidFill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D4A574"/>
                </a:solidFill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788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D4A574"/>
                </a:solidFill>
              </a:defRPr>
            </a:pPr>
            <a: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840480"/>
            <a:ext cx="2743200" cy="10972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840480"/>
            <a:ext cx="73152" cy="109728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47060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3A32"/>
                </a:solidFill>
              </a:defRPr>
            </a:pPr>
            <a:r>
              <a:t>小模型优化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A8A82"/>
                </a:solidFill>
              </a:defRPr>
            </a:pPr>
            <a:r>
              <a:t>知识蒸馏实现轻量化高性能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840480"/>
            <a:ext cx="2743200" cy="10972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3840480"/>
            <a:ext cx="73152" cy="109728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47060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3A32"/>
                </a:solidFill>
              </a:defRPr>
            </a:pPr>
            <a:r>
              <a:t>具身智能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A8A82"/>
                </a:solidFill>
              </a:defRPr>
            </a:pPr>
            <a:r>
              <a:t>大模型驱动机器人感知与决策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40480"/>
            <a:ext cx="2743200" cy="10972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840480"/>
            <a:ext cx="73152" cy="109728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47060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A3A32"/>
                </a:solidFill>
              </a:defRPr>
            </a:pPr>
            <a:r>
              <a:t>安全可控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A8A82"/>
                </a:solidFill>
              </a:defRPr>
            </a:pPr>
            <a:r>
              <a:t>对齐技术确保AI行为安全可靠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D4A574"/>
                </a:solidFill>
              </a:defRPr>
            </a:pPr>
            <a:r>
              <a:t>&lt;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D4A574"/>
                </a:solidFill>
              </a:defRPr>
            </a:pPr>
            <a:r>
              <a:t>&lt;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0" i="0">
                <a:solidFill>
                  <a:srgbClr val="E8DDD0"/>
                </a:solidFill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448495" cy="292608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8998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4A3A32"/>
                </a:solidFill>
              </a:defRPr>
            </a:pPr>
            <a:r>
              <a:t>人工智能就像一列正在加速的火车，你现在要做的不是争论它的终点在哪里，而是赶紧跳上去。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120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D4A574"/>
                </a:solidFill>
              </a:defRPr>
            </a:pPr>
            <a:r>
              <a:t>—— 李开复，创新工场创始人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5669280"/>
            <a:ext cx="1371600" cy="914400"/>
          </a:xfrm>
          <a:prstGeom prst="rect">
            <a:avLst/>
          </a:prstGeom>
          <a:solidFill>
            <a:srgbClr val="E8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A3A32"/>
                </a:solidFill>
              </a:defRPr>
            </a:pPr>
            <a:r>
              <a:t>核心要点回顾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772400" cy="4114800"/>
          </a:xfrm>
          <a:prstGeom prst="rect">
            <a:avLst/>
          </a:prstGeom>
          <a:solidFill>
            <a:srgbClr val="F0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54864" cy="50292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01 大模型是AI发展的重要里程碑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54864" cy="50292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02 Transformer通过自注意力实现大一统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46120"/>
            <a:ext cx="54864" cy="50292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03 规模带来涌现能力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60520"/>
            <a:ext cx="54864" cy="50292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4A3A32"/>
                </a:solidFill>
              </a:defRPr>
            </a:pPr>
            <a:r>
              <a:t>04 正在加速各行业的数字化落地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188720"/>
            <a:ext cx="3200400" cy="4114800"/>
          </a:xfrm>
          <a:prstGeom prst="rect">
            <a:avLst/>
          </a:prstGeom>
          <a:solidFill>
            <a:srgbClr val="C4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AF5F2"/>
                </a:solidFill>
              </a:defRPr>
            </a:pPr>
            <a:r>
              <a:t>感谢聆听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E8DDD0"/>
                </a:solidFill>
              </a:defRPr>
            </a:pPr>
            <a:r>
              <a:t>技术研发部 | tech@company.com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