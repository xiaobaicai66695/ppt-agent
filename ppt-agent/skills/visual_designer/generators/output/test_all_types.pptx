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0" y="5669280"/>
            <a:ext cx="3200400" cy="1645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5486400"/>
            <a:ext cx="1097280" cy="109728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"/>
            <a:ext cx="731520" cy="731520"/>
          </a:xfrm>
          <a:prstGeom prst="ellipse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3A4A52"/>
                </a:solidFill>
              </a:defRPr>
            </a:pPr>
            <a:r>
              <a:t>AI大模型技术概述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7BA3B8"/>
                </a:solidFill>
              </a:defRPr>
            </a:pPr>
            <a:r>
              <a:t>从基础原理到行业应用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5F8FA"/>
                </a:solidFill>
              </a:defRPr>
            </a:pPr>
            <a:r>
              <a:t>技术研发部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7A8A92"/>
                </a:solidFill>
              </a:defRPr>
            </a:pPr>
            <a:r>
              <a:t>2025年1月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内容概览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0574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01  什么是大模型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7432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02  技术发展历程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4290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03  核心原理与Transformer架构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0" y="20574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04  能力与特点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0" y="27432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05  行业应用案例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0" y="3429000"/>
            <a:ext cx="5029200" cy="0"/>
          </a:xfrm>
          <a:prstGeom prst="line">
            <a:avLst/>
          </a:prstGeom>
          <a:ln w="6350">
            <a:solidFill>
              <a:srgbClr val="C8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06  未来展望与挑战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什么是大模型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AI的新范式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大模型的定义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A8AA8"/>
                </a:solidFill>
              </a:defRPr>
            </a:pPr>
            <a:r>
              <a:t>大语言模型（LLM）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基于海量数据训练的超大规模神经网络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参数规模从数亿到数千亿不等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通过自监督学习从文本中自动提取知识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具备涌现能力（Emergent Capabilities）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规模与能力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1750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GPT-3 参数规模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154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9178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TB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训练数据量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6252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涌现能力数量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技术发展历程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从感知机到Transformer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发展里程碑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639312"/>
            <a:ext cx="9875520" cy="36576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感知机</a:t>
            </a:r>
            <a:br/>
            <a:r>
              <a:t>首个线性分类器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2900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反向传播</a:t>
            </a:r>
            <a:br/>
            <a:r>
              <a:t>多层网络训练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7016" y="301752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1998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LeNet</a:t>
            </a:r>
            <a:br/>
            <a:r>
              <a:t>卷积神经网络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8288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Transformer</a:t>
            </a:r>
            <a:br/>
            <a:r>
              <a:t>注意力机制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94776" y="301752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3520440"/>
            <a:ext cx="274320" cy="27432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A8AA8"/>
                </a:solidFill>
              </a:defRPr>
            </a:pPr>
            <a: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4A52"/>
                </a:solidFill>
              </a:defRPr>
            </a:pPr>
            <a:r>
              <a:t>GPT-3</a:t>
            </a:r>
            <a:br/>
            <a:r>
              <a:t>超大模型涌现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63656" y="2743200"/>
            <a:ext cx="18288" cy="77724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核心原理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Transformer架构与涌现能力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Transformer架构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A8AA8"/>
                </a:solidFill>
              </a:defRPr>
            </a:pPr>
            <a:r>
              <a:t>核心组件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自注意力机制：任意位置直接建模依赖关系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多头注意力：并行学习不同子空间的特征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位置编码：注入序列位置信息（非RNN）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前馈网络：非线性变换与特征提取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涌现能力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思维链推理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分步思考复杂问题，逻辑链可追溯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1507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1507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4387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上下文学习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无需微调，通过示例完成新任务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根据描述自动生成可执行代码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1507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1507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387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多模态理解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387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同时处理文本、图像、音频输入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能力与特点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大模型的核心优势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强大的语言理解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精准把握语义与上下文意图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1507" y="11887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1507" y="11887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4387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高质量内容生成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文章、代码、创意内容自动生成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知识推理与问答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跨知识库关联分析与精准回答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1507" y="3817620"/>
            <a:ext cx="4884267" cy="24003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1507" y="3817620"/>
            <a:ext cx="54864" cy="24003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387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A8AA8"/>
                </a:solidFill>
              </a:defRPr>
            </a:pPr>
            <a:r>
              <a:t>多语言支持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387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原生支持100+语言跨语言任务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行业应用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大模型正在改变各行各业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行业应用案例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6400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A"/>
                </a:solidFill>
              </a:defRPr>
            </a:pPr>
            <a:r>
              <a:t>01 金融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5915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智能风控与反欺诈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8211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智能投顾与理财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0507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合同智能审核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474720" cy="640080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02 医疗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35915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医学影像辅助诊断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18211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新药研发加速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00507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电子病历智能分析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1280160"/>
            <a:ext cx="3474720" cy="64008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4A52"/>
                </a:solidFill>
              </a:defRPr>
            </a:pPr>
            <a:r>
              <a:t>03 制造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235915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19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质量缺陷智能检测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318211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预测性设备维护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9" y="400507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A4A52"/>
                </a:solidFill>
              </a:defRPr>
            </a:pPr>
            <a:r>
              <a:t>工艺参数优化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应用效果数据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金融机构效率提升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154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9178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新药研发周期缩短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6252" y="2011680"/>
            <a:ext cx="18288" cy="2286000"/>
          </a:xfrm>
          <a:prstGeom prst="rect">
            <a:avLst/>
          </a:prstGeom>
          <a:solidFill>
            <a:srgbClr val="C8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5A8AA8"/>
                </a:solidFill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7BA3B8"/>
                </a:solidFill>
              </a:defRPr>
            </a:pPr>
            <a: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8A92"/>
                </a:solidFill>
              </a:defRPr>
            </a:pPr>
            <a:r>
              <a:t>制造缺陷率降低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技术趋势与挑战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发展趋势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多模态融合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文本/图像/视频/音频统一建模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Agent智能体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自主规划与执行复杂任务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端侧部署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本地化推理保护隐私降低成本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788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小模型优化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知识蒸馏实现轻量化高性能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具身智能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大模型驱动机器人感知与决策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40480"/>
            <a:ext cx="2743200" cy="10972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840480"/>
            <a:ext cx="73152" cy="10972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A4A52"/>
                </a:solidFill>
              </a:defRPr>
            </a:pPr>
            <a:r>
              <a:t>安全可控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对齐技术确保AI行为安全可靠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&lt;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BA3B8"/>
                </a:solidFill>
              </a:defRPr>
            </a:pPr>
            <a:r>
              <a:t>&lt;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65760"/>
            <a:ext cx="54864" cy="219456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实例 · 金融风控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4A52"/>
                </a:solidFill>
              </a:defRPr>
            </a:pPr>
            <a:r>
              <a:t>蚂蚁金服 AlphaRisk: 深度学习驱动的实时交易风控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7A8A92"/>
                </a:solidFill>
              </a:defRPr>
            </a:pPr>
            <a:r>
              <a:t>日均处理 50 万笔/秒交易峰值，欺诈损失率降至 0.008%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8AA8"/>
                </a:solidFill>
              </a:defRPr>
            </a:pPr>
            <a:r>
              <a:t>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4A52"/>
                </a:solidFill>
              </a:defRPr>
            </a:pPr>
            <a:r>
              <a:t>金融欺诈手法日益复杂，传统规则引擎需大量人工维护，漏检率高达 15%，误报频繁影响用户体验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8AA8"/>
                </a:solidFill>
              </a:defRPr>
            </a:pPr>
            <a:r>
              <a:t>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9456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4A52"/>
                </a:solidFill>
              </a:defRPr>
            </a:pPr>
            <a:r>
              <a:t>基于深度学习+图计算构建实时风控系统：图神经网络建模交易关系图谱、强化学习动态调整风控策略、在线学习实现模型小时级迭代更新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3291840"/>
            <a:ext cx="3474720" cy="128016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447" y="3291840"/>
            <a:ext cx="34747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99.99%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9776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欺诈识别准确率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BA3B8"/>
                </a:solidFill>
              </a:defRPr>
            </a:pPr>
            <a:r>
              <a:t>↑ 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8487" y="3291840"/>
            <a:ext cx="3474720" cy="128016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8487" y="3291840"/>
            <a:ext cx="34747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5647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50万/s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39776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交易处理峰值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BA3B8"/>
                </a:solidFill>
              </a:defRPr>
            </a:pPr>
            <a:r>
              <a:t>↑ 10x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527" y="3291840"/>
            <a:ext cx="3474720" cy="128016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7527" y="3291840"/>
            <a:ext cx="34747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4687" y="3474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100亿+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4687" y="39776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年减损金额(元)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4687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BA3B8"/>
                </a:solidFill>
              </a:defRPr>
            </a:pPr>
            <a:r>
              <a:t>累计超千亿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77295" cy="59436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A8AA8"/>
                </a:solidFill>
              </a:defRPr>
            </a:pPr>
            <a:r>
              <a:t>启示：图神经网络+在线学习的组合可在金融风控场景实现数量级提升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详解 · 注意力机制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4A52"/>
                </a:solidFill>
              </a:defRPr>
            </a:pPr>
            <a:r>
              <a:t>缩放点积注意力: Transformer 高效建模长序列的核心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7A8A92"/>
                </a:solidFill>
              </a:defRPr>
            </a:pPr>
            <a:r>
              <a:t>单层 8 头注意力将 512 长度序列的推理时间从 RNN 的 48ms 降至 6ms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51206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A8AA8"/>
                </a:solidFill>
              </a:defRPr>
            </a:pPr>
            <a:r>
              <a:t>原理与机制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工作流程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1. 线性投影 — 输入 X 分别乘以 W_Q/W_K/W_V 矩阵得到 Q/K/V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2. 计算注意力分数 — Q 与 K 的转置做矩阵乘法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3. 缩放 — 除以 sqrt(d_k) 防止点积过大导致 softmax 梯度消失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7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4. Softmax 归一化 — 将分数转为概率分布(和为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5. 加权求和 — Softmax 权重与 V 相乘得到输出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关键设计决策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7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为什么除以 sqrt(d_k): 当 d_k 较大时点积方差增大，softmax 趋向 one-hot，梯度趋近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为什么用残差连接: 允许梯度直接流过注意力层，使 100+ 层网络可训练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与其他方案的差异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5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vs 加性注意力(Bahdanau): 点积可通过矩阵乘法硬件加速，速度提升 3-5x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5303520" cy="51206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087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8C4D4"/>
                </a:solidFill>
              </a:defRPr>
            </a:pPr>
            <a:r>
              <a:t>代码与数据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1965960"/>
            <a:ext cx="5029200" cy="1682496"/>
          </a:xfrm>
          <a:prstGeom prst="rect">
            <a:avLst/>
          </a:prstGeom>
          <a:solidFill>
            <a:srgbClr val="3A4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039112"/>
            <a:ext cx="475488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5F8FA"/>
                </a:solidFill>
                <a:latin typeface="Consolas"/>
              </a:defRPr>
            </a:pPr>
            <a:r>
              <a:t>def attention(Q, K, V, mask=None):</a:t>
            </a:r>
            <a:br/>
            <a:r>
              <a:t>    d_k = Q.shape[-1]</a:t>
            </a:r>
            <a:br/>
            <a:r>
              <a:t>    scores = Q @ K.T / sqrt(d_k)</a:t>
            </a:r>
            <a:br/>
            <a:r>
              <a:t>    if mask is not None:</a:t>
            </a:r>
            <a:br/>
            <a:r>
              <a:t>        scores[mask==0] = -1e9</a:t>
            </a:r>
            <a:br/>
            <a:r>
              <a:t>    attn = softmax(scores)</a:t>
            </a:r>
            <a:br/>
            <a:r>
              <a:t>    return attn @ V, attn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85615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架构概览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59935"/>
            <a:ext cx="493775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4A52"/>
                </a:solidFill>
                <a:latin typeface="Consolas"/>
              </a:defRPr>
            </a:pPr>
            <a:r>
              <a:t>Input(512×768)</a:t>
            </a:r>
            <a:br/>
            <a:r>
              <a:t>→ W_Q/W_K/W_V</a:t>
            </a:r>
            <a:br/>
            <a:r>
              <a:t>→ Q/K/V(512×64×8头)</a:t>
            </a:r>
            <a:br/>
            <a:r>
              <a:t>→ MatMul → Scale</a:t>
            </a:r>
            <a:br/>
            <a:r>
              <a:t>→ Mask → Softmax</a:t>
            </a:r>
            <a:br/>
            <a:r>
              <a:t>→ MatMul(V) → Concat</a:t>
            </a:r>
            <a:br/>
            <a:r>
              <a:t>→ Linear →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660136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性能指标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980175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推理延迟: 6ms(512) | RNN: 48ms(↓87.5%)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300215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显存: 512MB(BF16) | vs FP32: 1024MB(↓50%)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20255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4A52"/>
                </a:solidFill>
              </a:defRPr>
            </a:pPr>
            <a:r>
              <a:t>长序列(2048): 96ms | RNN: &gt;2s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案例 · 云基础设施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4A52"/>
                </a:solidFill>
              </a:defRPr>
            </a:pPr>
            <a:r>
              <a:t>从自建 IDC 迁移到云原生: 某出行平台的架构演进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77724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24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8AA8"/>
                </a:solidFill>
              </a:defRPr>
            </a:pPr>
            <a:r>
              <a:t>Context ·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124712"/>
            <a:ext cx="8991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4A52"/>
                </a:solidFill>
              </a:defRPr>
            </a:pPr>
            <a:r>
              <a:t>某头部出行平台日订单量超 5000 万，原有自建 IDC 面临弹性不足、运维复杂、多活容灾困难等问题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38528"/>
            <a:ext cx="11277295" cy="777240"/>
          </a:xfrm>
          <a:prstGeom prst="roundRect">
            <a:avLst/>
          </a:prstGeom>
          <a:solidFill>
            <a:srgbClr val="E8F0F5"/>
          </a:solidFill>
          <a:ln w="19050">
            <a:solidFill>
              <a:srgbClr val="7B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7BA3B8"/>
                </a:solidFill>
              </a:defRPr>
            </a:pPr>
            <a:r>
              <a:t>Problem · 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8991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4A52"/>
                </a:solidFill>
              </a:defRPr>
            </a:pPr>
            <a:r>
              <a:t>节假日峰值流量是日常 5 倍，IDC 扩容周期需 2 周，高峰时段用户打车超时率高达 12%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25496"/>
            <a:ext cx="11277295" cy="100584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8AA8"/>
                </a:solidFill>
              </a:defRPr>
            </a:pPr>
            <a:r>
              <a:t>Solution · 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98648"/>
            <a:ext cx="8991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4A52"/>
                </a:solidFill>
              </a:defRPr>
            </a:pPr>
            <a:r>
              <a:t>采用 Kubernetes + Istio 构建统一编排层，数据库迁移至云原生 DB，消息队列从 Kafka 自建切换至云服务托管版。核心业务做单元化拆分，按城市维度隔离故障域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8AA8"/>
                </a:solidFill>
              </a:defRPr>
            </a:pPr>
            <a:r>
              <a:t>Results · 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52544"/>
            <a:ext cx="2682163" cy="109728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52544"/>
            <a:ext cx="2682163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489704"/>
            <a:ext cx="24627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2 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01184"/>
            <a:ext cx="24627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A4A52"/>
                </a:solidFill>
              </a:defRPr>
            </a:pPr>
            <a:r>
              <a:t>扩容周期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129784"/>
            <a:ext cx="24627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92"/>
                </a:solidFill>
              </a:defRPr>
            </a:pPr>
            <a:r>
              <a:t>从 2 周缩短至 2 分钟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2243" y="4352544"/>
            <a:ext cx="2682163" cy="109728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22243" y="4352544"/>
            <a:ext cx="2682163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1971" y="4489704"/>
            <a:ext cx="24627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0.3%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971" y="4901184"/>
            <a:ext cx="24627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A4A52"/>
                </a:solidFill>
              </a:defRPr>
            </a:pPr>
            <a:r>
              <a:t>打车超时率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1971" y="5129784"/>
            <a:ext cx="24627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92"/>
                </a:solidFill>
              </a:defRPr>
            </a:pPr>
            <a:r>
              <a:t>从 12% 降至 0.3%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7287" y="4352544"/>
            <a:ext cx="2682163" cy="109728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7287" y="4352544"/>
            <a:ext cx="2682163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7015" y="4489704"/>
            <a:ext cx="24627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3 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7015" y="4901184"/>
            <a:ext cx="24627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A4A52"/>
                </a:solidFill>
              </a:defRPr>
            </a:pPr>
            <a:r>
              <a:t>运维人力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015" y="5129784"/>
            <a:ext cx="24627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92"/>
                </a:solidFill>
              </a:defRPr>
            </a:pPr>
            <a:r>
              <a:t>从 25 人缩减至 3 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331" y="4352544"/>
            <a:ext cx="2682163" cy="109728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331" y="4352544"/>
            <a:ext cx="2682163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059" y="4489704"/>
            <a:ext cx="24627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5A8AA8"/>
                </a:solidFill>
              </a:defRPr>
            </a:pPr>
            <a:r>
              <a:t>99.995%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059" y="4901184"/>
            <a:ext cx="24627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A4A52"/>
                </a:solidFill>
              </a:defRPr>
            </a:pPr>
            <a:r>
              <a:t>全年可用率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059" y="5129784"/>
            <a:ext cx="24627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92"/>
                </a:solidFill>
              </a:defRPr>
            </a:pPr>
            <a:r>
              <a:t>全年停机 &lt; 26 分钟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A92"/>
                </a:solidFill>
              </a:defRPr>
            </a:pPr>
            <a:r>
              <a:t>数据 · AI 应用效果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4A52"/>
                </a:solidFill>
              </a:defRPr>
            </a:pPr>
            <a:r>
              <a:t>核心效果指标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196492" y="1371600"/>
            <a:ext cx="3474720" cy="164592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196492" y="1371600"/>
            <a:ext cx="3474720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059332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5A8AA8"/>
                </a:solidFill>
              </a:defRPr>
            </a:pPr>
            <a: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059332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4A52"/>
                </a:solidFill>
              </a:defRPr>
            </a:pPr>
            <a:r>
              <a:t>金融机构效率提升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059332" y="2286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7BA3B8"/>
                </a:solidFill>
              </a:defRPr>
            </a:pPr>
            <a:r>
              <a:t>↑ 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059332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92"/>
                </a:solidFill>
              </a:defRPr>
            </a:pPr>
            <a:r>
              <a:t>vs 传统方案 28%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6827" y="1371600"/>
            <a:ext cx="3474720" cy="164592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06827" y="1371600"/>
            <a:ext cx="3474720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3987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5A8AA8"/>
                </a:solidFill>
              </a:defRPr>
            </a:pPr>
            <a: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987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4A52"/>
                </a:solidFill>
              </a:defRPr>
            </a:pPr>
            <a:r>
              <a:t>新药研发周期缩短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3987" y="2286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7BA3B8"/>
                </a:solidFill>
              </a:defRPr>
            </a:pPr>
            <a:r>
              <a:t>↑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3987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92"/>
                </a:solidFill>
              </a:defRPr>
            </a:pPr>
            <a:r>
              <a:t>vs 传统研发 5 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3474720" cy="164592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3474720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5A8AA8"/>
                </a:solidFill>
              </a:defRPr>
            </a:pPr>
            <a:r>
              <a:t>99.99%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4A52"/>
                </a:solidFill>
              </a:defRPr>
            </a:pPr>
            <a:r>
              <a:t>模型推理准确率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286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7BA3B8"/>
                </a:solidFill>
              </a:defRPr>
            </a:pPr>
            <a:r>
              <a:t>↑ 0.3%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92"/>
                </a:solidFill>
              </a:defRPr>
            </a:pPr>
            <a:r>
              <a:t>vs 人工标注 99.95%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13467" y="1371600"/>
            <a:ext cx="3474720" cy="164592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13467" y="1371600"/>
            <a:ext cx="3474720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0627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5A8AA8"/>
                </a:solidFill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0627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4A52"/>
                </a:solidFill>
              </a:defRPr>
            </a:pPr>
            <a:r>
              <a:t>制造缺陷率降低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0627" y="2286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8C4D4"/>
                </a:solidFill>
              </a:defRPr>
            </a:pPr>
            <a:r>
              <a:t>↓ 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0627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92"/>
                </a:solidFill>
              </a:defRPr>
            </a:pPr>
            <a:r>
              <a:t>vs 人工质检 45%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0" i="0">
                <a:solidFill>
                  <a:srgbClr val="A8C4D4"/>
                </a:solidFill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448495" cy="29260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8998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A4A52"/>
                </a:solidFill>
              </a:defRPr>
            </a:pPr>
            <a:r>
              <a:t>人工智能就像一列正在加速的火车，你现在要做的不是争论它的终点在哪里，而是赶紧跳上去。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120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7BA3B8"/>
                </a:solidFill>
              </a:defRPr>
            </a:pPr>
            <a:r>
              <a:t>—— 李开复，创新工场创始人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5669280"/>
            <a:ext cx="1371600" cy="91440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3A4A52"/>
                </a:solidFill>
              </a:defRPr>
            </a:pPr>
            <a:r>
              <a:t>核心要点回顾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772400" cy="41148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01 大模型是AI发展的重要里程碑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02 Transformer通过自注意力实现大一统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461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03 规模带来涌现能力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60520"/>
            <a:ext cx="54864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A4A52"/>
                </a:solidFill>
              </a:defRPr>
            </a:pPr>
            <a:r>
              <a:t>04 正在加速各行业的数字化落地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188720"/>
            <a:ext cx="3200400" cy="41148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5F8FA"/>
                </a:solidFill>
              </a:defRPr>
            </a:pPr>
            <a:r>
              <a:t>感谢聆听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A8C4D4"/>
                </a:solidFill>
              </a:defRPr>
            </a:pPr>
            <a:r>
              <a:t>技术研发部 | tech@company.com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